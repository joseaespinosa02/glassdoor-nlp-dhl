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2a35b21b-f092-ee51-a3ac-1de5491c677f}">
          <p14:sldIdLst>
            <p14:sldId id="256"/>
            <p14:sldId id="257"/>
            <p14:sldId id="258"/>
          </p14:sldIdLst>
        </p14:section>
        <p14:section name="Insights" id="{b8d58e61-73d2-586f-13ab-d2492614224f}">
          <p14:sldIdLst>
            <p14:sldId id="259"/>
            <p14:sldId id="260"/>
            <p14:sldId id="261"/>
            <p14:sldId id="262"/>
            <p14:sldId id="263"/>
          </p14:sldIdLst>
        </p14:section>
        <p14:section name="Retención" id="{603a36a2-6d2a-eba8-423b-a38033cac79f}">
          <p14:sldIdLst>
            <p14:sldId id="264"/>
            <p14:sldId id="265"/>
            <p14:sldId id="266"/>
          </p14:sldIdLst>
        </p14:section>
        <p14:section name="Conclusiones" id="{819c2186-eb94-7c1a-5524-f324d4acb6f8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1F1F"/>
                </a:solidFill>
                <a:latin typeface="+mn-lt"/>
              </a:rPr>
              <a:t>Rating medio en Glassdoor (1-5)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 medio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051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MAERSK</c:v>
                  </c:pt>
                  <c:pt idx="1">
                    <c:v>FedEx</c:v>
                  </c:pt>
                  <c:pt idx="2">
                    <c:v>Kuehne+Nagel</c:v>
                  </c:pt>
                  <c:pt idx="3">
                    <c:v>DHL Supply Chain</c:v>
                  </c:pt>
                  <c:pt idx="4">
                    <c:v>UPS</c:v>
                  </c:pt>
                  <c:pt idx="5">
                    <c:v>DB Schenker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3.98</c:v>
                </c:pt>
                <c:pt idx="1">
                  <c:v>3.72</c:v>
                </c:pt>
                <c:pt idx="2">
                  <c:v>3.53</c:v>
                </c:pt>
                <c:pt idx="3">
                  <c:v>3.52</c:v>
                </c:pt>
                <c:pt idx="4">
                  <c:v>3.49</c:v>
                </c:pt>
                <c:pt idx="5">
                  <c:v>3.24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1F1F"/>
                </a:solidFill>
                <a:latin typeface="+mn-lt"/>
              </a:rPr>
              <a:t>Rating medio por antigüedad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DHL Supply Chain</c:v>
                </c:pt>
              </c:strCache>
            </c:strRef>
          </c:tx>
          <c:spPr>
            <a:solidFill>
              <a:srgbClr val="D40511"/>
            </a:solidFill>
            <a:ln w="38100" cap="flat">
              <a:solidFill>
                <a:srgbClr val="D405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40511"/>
              </a:solidFill>
              <a:ln w="9525" cap="flat">
                <a:solidFill>
                  <a:srgbClr val="D405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&lt;1 año</c:v>
                  </c:pt>
                  <c:pt idx="1">
                    <c:v>&gt;1</c:v>
                  </c:pt>
                  <c:pt idx="2">
                    <c:v>&gt;3</c:v>
                  </c:pt>
                  <c:pt idx="3">
                    <c:v>&gt;5</c:v>
                  </c:pt>
                  <c:pt idx="4">
                    <c:v>&gt;8</c:v>
                  </c:pt>
                  <c:pt idx="5">
                    <c:v>&gt;10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3.33</c:v>
                </c:pt>
                <c:pt idx="1">
                  <c:v>3.39</c:v>
                </c:pt>
                <c:pt idx="2">
                  <c:v>3.4</c:v>
                </c:pt>
                <c:pt idx="3">
                  <c:v>3.46</c:v>
                </c:pt>
                <c:pt idx="4">
                  <c:v>3.58</c:v>
                </c:pt>
                <c:pt idx="5">
                  <c:v>3.87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Peers</c:v>
                </c:pt>
              </c:strCache>
            </c:strRef>
          </c:tx>
          <c:spPr>
            <a:solidFill>
              <a:srgbClr val="9AA5B1"/>
            </a:solidFill>
            <a:ln w="38100" cap="flat">
              <a:solidFill>
                <a:srgbClr val="9AA5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5B1"/>
              </a:solidFill>
              <a:ln w="9525" cap="flat">
                <a:solidFill>
                  <a:srgbClr val="9AA5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&lt;1 año</c:v>
                  </c:pt>
                  <c:pt idx="1">
                    <c:v>&gt;1</c:v>
                  </c:pt>
                  <c:pt idx="2">
                    <c:v>&gt;3</c:v>
                  </c:pt>
                  <c:pt idx="3">
                    <c:v>&gt;5</c:v>
                  </c:pt>
                  <c:pt idx="4">
                    <c:v>&gt;8</c:v>
                  </c:pt>
                  <c:pt idx="5">
                    <c:v>&gt;10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3.5</c:v>
                </c:pt>
                <c:pt idx="1">
                  <c:v>3.51</c:v>
                </c:pt>
                <c:pt idx="2">
                  <c:v>3.59</c:v>
                </c:pt>
                <c:pt idx="3">
                  <c:v>3.62</c:v>
                </c:pt>
                <c:pt idx="4">
                  <c:v>3.69</c:v>
                </c:pt>
                <c:pt idx="5">
                  <c:v>3.8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F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3.2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1F1F"/>
                </a:solidFill>
                <a:latin typeface="+mn-lt"/>
              </a:rPr>
              <a:t>Evolución anual del rating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DHL Supply Chain</c:v>
                </c:pt>
              </c:strCache>
            </c:strRef>
          </c:tx>
          <c:spPr>
            <a:solidFill>
              <a:srgbClr val="D40511"/>
            </a:solidFill>
            <a:ln w="38100" cap="flat">
              <a:solidFill>
                <a:srgbClr val="D405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40511"/>
              </a:solidFill>
              <a:ln w="9525" cap="flat">
                <a:solidFill>
                  <a:srgbClr val="D405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3.24</c:v>
                </c:pt>
                <c:pt idx="1">
                  <c:v>3.43</c:v>
                </c:pt>
                <c:pt idx="2">
                  <c:v>3.66</c:v>
                </c:pt>
                <c:pt idx="3">
                  <c:v>3.51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MAERSK</c:v>
                </c:pt>
              </c:strCache>
            </c:strRef>
          </c:tx>
          <c:spPr>
            <a:solidFill>
              <a:srgbClr val="2A9D8F"/>
            </a:solidFill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3.97</c:v>
                </c:pt>
                <c:pt idx="1">
                  <c:v>3.97</c:v>
                </c:pt>
                <c:pt idx="2">
                  <c:v>3.93</c:v>
                </c:pt>
                <c:pt idx="3">
                  <c:v>4.06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Kuehne+Nagel</c:v>
                </c:pt>
              </c:strCache>
            </c:strRef>
          </c:tx>
          <c:spPr>
            <a:solidFill>
              <a:srgbClr val="9AA5B1"/>
            </a:solidFill>
            <a:ln w="38100" cap="flat">
              <a:solidFill>
                <a:srgbClr val="9AA5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AA5B1"/>
              </a:solidFill>
              <a:ln w="9525" cap="flat">
                <a:solidFill>
                  <a:srgbClr val="9AA5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3.3</c:v>
                </c:pt>
                <c:pt idx="1">
                  <c:v>3.41</c:v>
                </c:pt>
                <c:pt idx="2">
                  <c:v>3.44</c:v>
                </c:pt>
                <c:pt idx="3">
                  <c:v>3.74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F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2"/>
          <c:min val="3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1F1F"/>
                </a:solidFill>
                <a:latin typeface="+mn-lt"/>
              </a:rPr>
              <a:t>DistilBERT SST-2 sobre pros y cons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pros positivos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MAERSK</c:v>
                  </c:pt>
                  <c:pt idx="1">
                    <c:v>FedEx</c:v>
                  </c:pt>
                  <c:pt idx="2">
                    <c:v>K+N</c:v>
                  </c:pt>
                  <c:pt idx="3">
                    <c:v>DHL SC</c:v>
                  </c:pt>
                  <c:pt idx="4">
                    <c:v>UPS</c:v>
                  </c:pt>
                  <c:pt idx="5">
                    <c:v>DB Schenker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92.6</c:v>
                </c:pt>
                <c:pt idx="1">
                  <c:v>89.4</c:v>
                </c:pt>
                <c:pt idx="2">
                  <c:v>93.2</c:v>
                </c:pt>
                <c:pt idx="3">
                  <c:v>87.8</c:v>
                </c:pt>
                <c:pt idx="4">
                  <c:v>88.1</c:v>
                </c:pt>
                <c:pt idx="5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cons negativos</c:v>
                </c:pt>
              </c:strCache>
            </c:strRef>
          </c:tx>
          <c:spPr>
            <a:solidFill>
              <a:srgbClr val="D4051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MAERSK</c:v>
                  </c:pt>
                  <c:pt idx="1">
                    <c:v>FedEx</c:v>
                  </c:pt>
                  <c:pt idx="2">
                    <c:v>K+N</c:v>
                  </c:pt>
                  <c:pt idx="3">
                    <c:v>DHL SC</c:v>
                  </c:pt>
                  <c:pt idx="4">
                    <c:v>UPS</c:v>
                  </c:pt>
                  <c:pt idx="5">
                    <c:v>DB Schenker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77.4</c:v>
                </c:pt>
                <c:pt idx="1">
                  <c:v>79.6</c:v>
                </c:pt>
                <c:pt idx="2">
                  <c:v>83.9</c:v>
                </c:pt>
                <c:pt idx="3">
                  <c:v>81.7</c:v>
                </c:pt>
                <c:pt idx="4">
                  <c:v>83.8</c:v>
                </c:pt>
                <c:pt idx="5">
                  <c:v>86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F1F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1F1F"/>
                </a:solidFill>
                <a:latin typeface="+mn-lt"/>
              </a:rPr>
              <a:t>Peso de cada categoría en el total de reseñas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pros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Compensación</c:v>
                  </c:pt>
                  <c:pt idx="1">
                    <c:v>Conciliación</c:v>
                  </c:pt>
                  <c:pt idx="2">
                    <c:v>Management</c:v>
                  </c:pt>
                  <c:pt idx="3">
                    <c:v>Burocracia</c:v>
                  </c:pt>
                  <c:pt idx="4">
                    <c:v>Carga de trabajo</c:v>
                  </c:pt>
                  <c:pt idx="5">
                    <c:v>Carrera</c:v>
                  </c:pt>
                  <c:pt idx="6">
                    <c:v>Condiciones físicas</c:v>
                  </c:pt>
                  <c:pt idx="7">
                    <c:v>Cultura</c:v>
                  </c:pt>
                  <c:pt idx="8">
                    <c:v>Estabilidad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23.8</c:v>
                </c:pt>
                <c:pt idx="1">
                  <c:v>15</c:v>
                </c:pt>
                <c:pt idx="2">
                  <c:v>2.4</c:v>
                </c:pt>
                <c:pt idx="3">
                  <c:v>1.6</c:v>
                </c:pt>
                <c:pt idx="4">
                  <c:v>3.4</c:v>
                </c:pt>
                <c:pt idx="5">
                  <c:v>5.8</c:v>
                </c:pt>
                <c:pt idx="6">
                  <c:v>1.8</c:v>
                </c:pt>
                <c:pt idx="7">
                  <c:v>20.8</c:v>
                </c:pt>
                <c:pt idx="8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cons</c:v>
                </c:pt>
              </c:strCache>
            </c:strRef>
          </c:tx>
          <c:spPr>
            <a:solidFill>
              <a:srgbClr val="D4051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Compensación</c:v>
                  </c:pt>
                  <c:pt idx="1">
                    <c:v>Conciliación</c:v>
                  </c:pt>
                  <c:pt idx="2">
                    <c:v>Management</c:v>
                  </c:pt>
                  <c:pt idx="3">
                    <c:v>Burocracia</c:v>
                  </c:pt>
                  <c:pt idx="4">
                    <c:v>Carga de trabajo</c:v>
                  </c:pt>
                  <c:pt idx="5">
                    <c:v>Carrera</c:v>
                  </c:pt>
                  <c:pt idx="6">
                    <c:v>Condiciones físicas</c:v>
                  </c:pt>
                  <c:pt idx="7">
                    <c:v>Cultura</c:v>
                  </c:pt>
                  <c:pt idx="8">
                    <c:v>Estabilidad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13.1</c:v>
                </c:pt>
                <c:pt idx="1">
                  <c:v>15.9</c:v>
                </c:pt>
                <c:pt idx="2">
                  <c:v>15.2</c:v>
                </c:pt>
                <c:pt idx="3">
                  <c:v>9.4</c:v>
                </c:pt>
                <c:pt idx="4">
                  <c:v>8.5</c:v>
                </c:pt>
                <c:pt idx="5">
                  <c:v>7</c:v>
                </c:pt>
                <c:pt idx="6">
                  <c:v>5.8</c:v>
                </c:pt>
                <c:pt idx="7">
                  <c:v>2.3</c:v>
                </c:pt>
                <c:pt idx="8">
                  <c:v>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1F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1F1F"/>
                </a:solidFill>
                <a:latin typeface="+mn-lt"/>
              </a:rPr>
              <a:t>Balance neto (% pros − % cons) de DHL menos media de peers, pp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neto vs peers (pp)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40511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Carrera y desarrollo</c:v>
                  </c:pt>
                  <c:pt idx="1">
                    <c:v>Burocracia y procesos</c:v>
                  </c:pt>
                  <c:pt idx="2">
                    <c:v>Compensación</c:v>
                  </c:pt>
                  <c:pt idx="3">
                    <c:v>Estabilidad</c:v>
                  </c:pt>
                  <c:pt idx="4">
                    <c:v>Carga de trabajo</c:v>
                  </c:pt>
                  <c:pt idx="5">
                    <c:v>Management</c:v>
                  </c:pt>
                  <c:pt idx="6">
                    <c:v>Condiciones físicas</c:v>
                  </c:pt>
                  <c:pt idx="7">
                    <c:v>Cultura y compañeros</c:v>
                  </c:pt>
                  <c:pt idx="8">
                    <c:v>Conciliación y horarios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5.1</c:v>
                </c:pt>
                <c:pt idx="1">
                  <c:v>2.7</c:v>
                </c:pt>
                <c:pt idx="2">
                  <c:v>0.8</c:v>
                </c:pt>
                <c:pt idx="3">
                  <c:v>0.5</c:v>
                </c:pt>
                <c:pt idx="4">
                  <c:v>-0.4</c:v>
                </c:pt>
                <c:pt idx="5">
                  <c:v>-0.7</c:v>
                </c:pt>
                <c:pt idx="6">
                  <c:v>-0.9</c:v>
                </c:pt>
                <c:pt idx="7">
                  <c:v>-1.1</c:v>
                </c:pt>
                <c:pt idx="8">
                  <c:v>-7.8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-9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1F1F"/>
                </a:solidFill>
                <a:latin typeface="+mn-lt"/>
              </a:rPr>
              <a:t>% de cons de antiguos empleados por categoría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DHL (antiguos)</c:v>
                </c:pt>
              </c:strCache>
            </c:strRef>
          </c:tx>
          <c:spPr>
            <a:solidFill>
              <a:srgbClr val="D4051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Conciliación y horarios</c:v>
                  </c:pt>
                  <c:pt idx="1">
                    <c:v>Management</c:v>
                  </c:pt>
                  <c:pt idx="2">
                    <c:v>Compensación</c:v>
                  </c:pt>
                  <c:pt idx="3">
                    <c:v>Carga de trabajo</c:v>
                  </c:pt>
                  <c:pt idx="4">
                    <c:v>Carrera</c:v>
                  </c:pt>
                  <c:pt idx="5">
                    <c:v>Burocracia</c:v>
                  </c:pt>
                  <c:pt idx="6">
                    <c:v>Condiciones físicas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17.7</c:v>
                </c:pt>
                <c:pt idx="1">
                  <c:v>19.1</c:v>
                </c:pt>
                <c:pt idx="2">
                  <c:v>13.5</c:v>
                </c:pt>
                <c:pt idx="3">
                  <c:v>8.4</c:v>
                </c:pt>
                <c:pt idx="4">
                  <c:v>7.7</c:v>
                </c:pt>
                <c:pt idx="5">
                  <c:v>6.6</c:v>
                </c:pt>
                <c:pt idx="6">
                  <c:v>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Peers (antiguos)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Conciliación y horarios</c:v>
                  </c:pt>
                  <c:pt idx="1">
                    <c:v>Management</c:v>
                  </c:pt>
                  <c:pt idx="2">
                    <c:v>Compensación</c:v>
                  </c:pt>
                  <c:pt idx="3">
                    <c:v>Carga de trabajo</c:v>
                  </c:pt>
                  <c:pt idx="4">
                    <c:v>Carrera</c:v>
                  </c:pt>
                  <c:pt idx="5">
                    <c:v>Burocracia</c:v>
                  </c:pt>
                  <c:pt idx="6">
                    <c:v>Condiciones físicas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13.2</c:v>
                </c:pt>
                <c:pt idx="1">
                  <c:v>18.9</c:v>
                </c:pt>
                <c:pt idx="2">
                  <c:v>12.1</c:v>
                </c:pt>
                <c:pt idx="3">
                  <c:v>8</c:v>
                </c:pt>
                <c:pt idx="4">
                  <c:v>7.1</c:v>
                </c:pt>
                <c:pt idx="5">
                  <c:v>9.8</c:v>
                </c:pt>
                <c:pt idx="6">
                  <c:v>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1F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1F1F"/>
                </a:solidFill>
                <a:latin typeface="+mn-lt"/>
              </a:rPr>
              <a:t>% de cons por periodo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Conciliación DHL</c:v>
                </c:pt>
              </c:strCache>
            </c:strRef>
          </c:tx>
          <c:spPr>
            <a:solidFill>
              <a:srgbClr val="D4051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Pre-2020</c:v>
                  </c:pt>
                  <c:pt idx="1">
                    <c:v>2020-2021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17.5</c:v>
                </c:pt>
                <c:pt idx="1">
                  <c:v>23.9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Conciliación peers</c:v>
                </c:pt>
              </c:strCache>
            </c:strRef>
          </c:tx>
          <c:spPr>
            <a:solidFill>
              <a:srgbClr val="F2A3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Pre-2020</c:v>
                  </c:pt>
                  <c:pt idx="1">
                    <c:v>2020-2021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17.6</c:v>
                </c:pt>
                <c:pt idx="1">
                  <c:v>20.9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Carga de trabajo DHL</c:v>
                </c:pt>
              </c:strCache>
            </c:strRef>
          </c:tx>
          <c:spPr>
            <a:solidFill>
              <a:srgbClr val="1F1F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Pre-2020</c:v>
                  </c:pt>
                  <c:pt idx="1">
                    <c:v>2020-2021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13.2</c:v>
                </c:pt>
                <c:pt idx="1">
                  <c:v>9.3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Carga de trabajo peers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Pre-2020</c:v>
                  </c:pt>
                  <c:pt idx="1">
                    <c:v>2020-2021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9.2</c:v>
                </c:pt>
                <c:pt idx="1">
                  <c:v>11.8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encargo: RRHH pide un diagnóstico de DHL Supply Chain como empleador a partir de Glassdoor, comparado con sus competidores directos.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preguntas de negocio. El proceso combina un control de calidad con sentimiento y un modelo de topics único para las 6 empresas, para que las categorías sean comparables.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Justificación de peers y de la ventana común. Sin el recorte compararíamos a DHL 2018-2021 con peers que incluyen la crisis logística de 2022.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Posición 4 de 6. La polarización indica un grupo muy descontento cuyas quejas buscamos en los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Hipótesis inicial: fuga en antigüedad media por falta de carrera. Los topics la refutarán.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binario, entrenado en críticas de cine: no reconoce quejas sin palabras negativas. Por eso el sentimiento sirve de control, no de clasificador.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Parámetros: all-MiniLM-L6-v2, HDBSCAN min_cluster_size 30. Outliers reasignados con umbral 0,4 para no perder volumen. Cultura es casi solo un pro; Management casi solo un 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Uso el balance neto porque los % suman 100 y son relativos. Compensación, estabilidad y cultura están en línea con el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Comparamos temas, no sentimiento: los antiguos siempre puntúan peor. Respecto a los actuales, los antiguos de DHL citan más condiciones físicas, carrera y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del enunciado: evolución temporal antes y después de 2020.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 X: cuánto se habla del tema. Eje Y: cuánto peor estamos que la media de peers. Las quejas de management son las que más hunden el rating y la recomendación.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salario no es el problema diferencial. El problema es la gestión del tiempo y la calidad de los mandos.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Máximo 3 recomendaciones, ligadas a los hallazgos y con un KPI medible en futuras reseñas.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los hallazgos deben validarse con datos internos antes de invertir.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DHL Supply Chain · Diagnóstico de marca empleadora · Glassdoor 2018-2021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Diagnóstico de marca empleadora: DHL Supply Chain vs. peers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Sentimiento (DistilBERT) + topic modeling (BERTopic) sobre reseñas de Glassdoor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José A. Espinosa · Proyecto Modular 6 NLP · Máster en Data Science &amp; IA, Evolve Academy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Objetivo: saber dónde ganamos y dónde perdemos talento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RRHH necesita saber qué explotar en employer branding y qué está provocando salidas. Un problema solo es prioritario si estamos peor que el mercado.</a:t>
            </a:r>
            <a:endParaRPr lang="en-US" sz="1600" dirty="0"/>
          </a:p>
        </p:txBody>
      </p:sp>
      <p:sp>
        <p:nvSpPr>
          <p:cNvPr id="4" name="obj0"/>
          <p:cNvSpPr/>
          <p:nvPr/>
        </p:nvSpPr>
        <p:spPr>
          <a:xfrm>
            <a:off x="548640" y="21945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objdot0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Puntos fuertes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30632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Qué valoran los empleados de DHL más que en la competencia → employer branding y selección</a:t>
            </a:r>
            <a:endParaRPr lang="en-US" sz="1400" dirty="0"/>
          </a:p>
        </p:txBody>
      </p:sp>
      <p:sp>
        <p:nvSpPr>
          <p:cNvPr id="9" name="obj1"/>
          <p:cNvSpPr/>
          <p:nvPr/>
        </p:nvSpPr>
        <p:spPr>
          <a:xfrm>
            <a:off x="4297680" y="21945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objdot1"/>
          <p:cNvSpPr/>
          <p:nvPr/>
        </p:nvSpPr>
        <p:spPr>
          <a:xfrm>
            <a:off x="4526280" y="2377440"/>
            <a:ext cx="502920" cy="502920"/>
          </a:xfrm>
          <a:prstGeom prst="ellipse">
            <a:avLst/>
          </a:prstGeom>
          <a:solidFill>
            <a:srgbClr val="D40511"/>
          </a:solidFill>
          <a:ln w="12700">
            <a:solidFill>
              <a:srgbClr val="D405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Áreas de mejora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017520"/>
            <a:ext cx="30632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Qué quejas pesan más y son peores que en los peers → plan de acción</a:t>
            </a:r>
            <a:endParaRPr lang="en-US" sz="1400" dirty="0"/>
          </a:p>
        </p:txBody>
      </p:sp>
      <p:sp>
        <p:nvSpPr>
          <p:cNvPr id="14" name="obj2"/>
          <p:cNvSpPr/>
          <p:nvPr/>
        </p:nvSpPr>
        <p:spPr>
          <a:xfrm>
            <a:off x="8046720" y="21945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objdot2"/>
          <p:cNvSpPr/>
          <p:nvPr/>
        </p:nvSpPr>
        <p:spPr>
          <a:xfrm>
            <a:off x="8275320" y="2377440"/>
            <a:ext cx="502920" cy="502920"/>
          </a:xfrm>
          <a:prstGeom prst="ellipse">
            <a:avLst/>
          </a:prstGeom>
          <a:solidFill>
            <a:srgbClr val="D40511"/>
          </a:solidFill>
          <a:ln w="12700">
            <a:solidFill>
              <a:srgbClr val="D405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Motivos de salida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017520"/>
            <a:ext cx="30632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Qué mencionan los antiguos empleados → palancas de retención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Proceso</a:t>
            </a:r>
            <a:endParaRPr lang="en-US" sz="1600" dirty="0"/>
          </a:p>
        </p:txBody>
      </p:sp>
      <p:sp>
        <p:nvSpPr>
          <p:cNvPr id="20" name="step0"/>
          <p:cNvSpPr/>
          <p:nvPr/>
        </p:nvSpPr>
        <p:spPr>
          <a:xfrm>
            <a:off x="548640" y="48006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800600"/>
            <a:ext cx="16459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EDA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rot="5400000">
            <a:off x="2221992" y="5166360"/>
            <a:ext cx="164592" cy="228600"/>
          </a:xfrm>
          <a:prstGeom prst="rtTriangle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3" name="step1"/>
          <p:cNvSpPr/>
          <p:nvPr/>
        </p:nvSpPr>
        <p:spPr>
          <a:xfrm>
            <a:off x="2423160" y="48006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23160" y="4800600"/>
            <a:ext cx="16459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Sentimiento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DistilBERT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rot="5400000">
            <a:off x="4096512" y="5166360"/>
            <a:ext cx="164592" cy="228600"/>
          </a:xfrm>
          <a:prstGeom prst="rtTriangle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6" name="step2"/>
          <p:cNvSpPr/>
          <p:nvPr/>
        </p:nvSpPr>
        <p:spPr>
          <a:xfrm>
            <a:off x="4297680" y="48006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97680" y="4800600"/>
            <a:ext cx="16459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Topics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BERTopic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rot="5400000">
            <a:off x="5971032" y="5166360"/>
            <a:ext cx="164592" cy="228600"/>
          </a:xfrm>
          <a:prstGeom prst="rtTriangle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9" name="step3"/>
          <p:cNvSpPr/>
          <p:nvPr/>
        </p:nvSpPr>
        <p:spPr>
          <a:xfrm>
            <a:off x="6172200" y="48006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4800600"/>
            <a:ext cx="16459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Categorías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RRHH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 rot="5400000">
            <a:off x="7845552" y="5166360"/>
            <a:ext cx="164592" cy="228600"/>
          </a:xfrm>
          <a:prstGeom prst="rtTriangle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32" name="step4"/>
          <p:cNvSpPr/>
          <p:nvPr/>
        </p:nvSpPr>
        <p:spPr>
          <a:xfrm>
            <a:off x="8046720" y="48006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0" y="4800600"/>
            <a:ext cx="16459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Comparación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peers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 rot="5400000">
            <a:off x="9720072" y="5166360"/>
            <a:ext cx="164592" cy="228600"/>
          </a:xfrm>
          <a:prstGeom prst="rtTriangle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35" name="step5"/>
          <p:cNvSpPr/>
          <p:nvPr/>
        </p:nvSpPr>
        <p:spPr>
          <a:xfrm>
            <a:off x="9921240" y="48006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D40511"/>
          </a:solidFill>
          <a:ln w="12700">
            <a:solidFill>
              <a:srgbClr val="D4051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921240" y="4800600"/>
            <a:ext cx="16459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Matriz 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recomendaciones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Empresa, peers y criterios del análisis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852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005840"/>
                <a:gridCol w="1371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Reseñas analizadas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recomienda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B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40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DHL Supply 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40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40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40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MAERSK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Schenker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Kuehne+Nagel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58521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Peers: operadores logísticos globales que compiten por el mismo talento (almacén, transporte, supervisión, supply chain).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858000" y="1325880"/>
            <a:ext cx="47548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Criterios y asunciones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82880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Ventana común jul-2018 → jun-2021: DHL Supply Chain no tiene reseñas posteriores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Solo la entidad DHL Supply Chain: paquetería y forwarding son otro negocio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Máximo 2.000 reseñas por empresa (semilla 42) para que UPS no domine el modelo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nulos; 2 duplicados eliminados → 8.063 reseñas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 tipo "no cons / nothing" excluidos de los topics de quejas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DHL está en la zona media-baja del sector; MAERSK es el referente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1-n"/>
          <p:cNvSpPr txBox="1"/>
          <p:nvPr/>
        </p:nvSpPr>
        <p:spPr>
          <a:xfrm>
            <a:off x="7772400" y="1371600"/>
            <a:ext cx="38404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44 %</a:t>
            </a:r>
            <a:endParaRPr lang="en-US" sz="4400" dirty="0"/>
          </a:p>
        </p:txBody>
      </p:sp>
      <p:sp>
        <p:nvSpPr>
          <p:cNvPr id="5" name="st1-l"/>
          <p:cNvSpPr txBox="1"/>
          <p:nvPr/>
        </p:nvSpPr>
        <p:spPr>
          <a:xfrm>
            <a:off x="7772400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recomienda DHL (MAERSK 59 %); 26 % dice explícitamente que no</a:t>
            </a:r>
            <a:endParaRPr lang="en-US" sz="1300" dirty="0"/>
          </a:p>
        </p:txBody>
      </p:sp>
      <p:sp>
        <p:nvSpPr>
          <p:cNvPr id="6" name="st2-n"/>
          <p:cNvSpPr txBox="1"/>
          <p:nvPr/>
        </p:nvSpPr>
        <p:spPr>
          <a:xfrm>
            <a:off x="7772400" y="2926080"/>
            <a:ext cx="38404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20 %</a:t>
            </a:r>
            <a:endParaRPr lang="en-US" sz="4400" dirty="0"/>
          </a:p>
        </p:txBody>
      </p:sp>
      <p:sp>
        <p:nvSpPr>
          <p:cNvPr id="7" name="st2-l"/>
          <p:cNvSpPr txBox="1"/>
          <p:nvPr/>
        </p:nvSpPr>
        <p:spPr>
          <a:xfrm>
            <a:off x="7772400" y="3703320"/>
            <a:ext cx="38404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de reseñas de DHL con 1-2 estrellas (MAERSK 10 %): un grupo muy descontento</a:t>
            </a:r>
            <a:endParaRPr lang="en-US" sz="1300" dirty="0"/>
          </a:p>
        </p:txBody>
      </p:sp>
      <p:sp>
        <p:nvSpPr>
          <p:cNvPr id="8" name="st3-n"/>
          <p:cNvSpPr txBox="1"/>
          <p:nvPr/>
        </p:nvSpPr>
        <p:spPr>
          <a:xfrm>
            <a:off x="7772400" y="4480560"/>
            <a:ext cx="38404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0,41</a:t>
            </a:r>
            <a:endParaRPr lang="en-US" sz="4400" dirty="0"/>
          </a:p>
        </p:txBody>
      </p:sp>
      <p:sp>
        <p:nvSpPr>
          <p:cNvPr id="9" name="st3-l"/>
          <p:cNvSpPr txBox="1"/>
          <p:nvPr/>
        </p:nvSpPr>
        <p:spPr>
          <a:xfrm>
            <a:off x="7772400" y="5257800"/>
            <a:ext cx="38404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gap actuales vs. antiguos, en la media del sector (sesgo de selección normal)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DHL pierde frente a los peers entre 1 y 8 años de antigüedad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6692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400800" y="128016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insight5"/>
          <p:cNvSpPr/>
          <p:nvPr/>
        </p:nvSpPr>
        <p:spPr>
          <a:xfrm>
            <a:off x="6400800" y="4800600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537960" y="4846320"/>
            <a:ext cx="49377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DHL sube en 2020 (pico del e-commerce) y cae en 2021 mientras MAERSK y Kuehne+Nagel mejoran: señal de alerta temprana.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El sentimiento valida los datos: los pros son positivos y los cons negativos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4-n"/>
          <p:cNvSpPr txBox="1"/>
          <p:nvPr/>
        </p:nvSpPr>
        <p:spPr>
          <a:xfrm>
            <a:off x="758952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89 %</a:t>
            </a:r>
            <a:endParaRPr lang="en-US" sz="4400" dirty="0"/>
          </a:p>
        </p:txBody>
      </p:sp>
      <p:sp>
        <p:nvSpPr>
          <p:cNvPr id="5" name="st4-l"/>
          <p:cNvSpPr txBox="1"/>
          <p:nvPr/>
        </p:nvSpPr>
        <p:spPr>
          <a:xfrm>
            <a:off x="758952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pros positivos</a:t>
            </a:r>
            <a:endParaRPr lang="en-US" sz="1300" dirty="0"/>
          </a:p>
        </p:txBody>
      </p:sp>
      <p:sp>
        <p:nvSpPr>
          <p:cNvPr id="6" name="st5-n"/>
          <p:cNvSpPr txBox="1"/>
          <p:nvPr/>
        </p:nvSpPr>
        <p:spPr>
          <a:xfrm>
            <a:off x="9601200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82 %</a:t>
            </a:r>
            <a:endParaRPr lang="en-US" sz="4400" dirty="0"/>
          </a:p>
        </p:txBody>
      </p:sp>
      <p:sp>
        <p:nvSpPr>
          <p:cNvPr id="7" name="st5-l"/>
          <p:cNvSpPr txBox="1"/>
          <p:nvPr/>
        </p:nvSpPr>
        <p:spPr>
          <a:xfrm>
            <a:off x="960120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cons negativos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926080"/>
            <a:ext cx="40233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Casos discordantes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333756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Cons "positivos" (18 %): 89 % son quejas en tono neutro ("Long hours, high goals"); 11 % son "no cons"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Pros "negativos" (11 %): "None I can think of", sarcasmo o pros mezclados con críticas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Conclusión: no hay problema de datos; los cons se analizan por tema, no por polaridad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BERTopic: 126 topics agrupados en 9 categorías de RRHH</a:t>
            </a:r>
            <a:endParaRPr lang="en-US" sz="2600" dirty="0"/>
          </a:p>
        </p:txBody>
      </p:sp>
      <p:sp>
        <p:nvSpPr>
          <p:cNvPr id="3" name="st6-n"/>
          <p:cNvSpPr txBox="1"/>
          <p:nvPr/>
        </p:nvSpPr>
        <p:spPr>
          <a:xfrm>
            <a:off x="548640" y="1325880"/>
            <a:ext cx="256032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/ 59</a:t>
            </a:r>
            <a:endParaRPr lang="en-US" sz="4400" dirty="0"/>
          </a:p>
        </p:txBody>
      </p:sp>
      <p:sp>
        <p:nvSpPr>
          <p:cNvPr id="4" name="st6-l"/>
          <p:cNvSpPr txBox="1"/>
          <p:nvPr/>
        </p:nvSpPr>
        <p:spPr>
          <a:xfrm>
            <a:off x="54864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topics en pros / cons, con un único modelo para las 6 empresas</a:t>
            </a:r>
            <a:endParaRPr lang="en-US" sz="1300" dirty="0"/>
          </a:p>
        </p:txBody>
      </p:sp>
      <p:sp>
        <p:nvSpPr>
          <p:cNvPr id="5" name="st7-n"/>
          <p:cNvSpPr txBox="1"/>
          <p:nvPr/>
        </p:nvSpPr>
        <p:spPr>
          <a:xfrm>
            <a:off x="548640" y="2880360"/>
            <a:ext cx="256032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→ 1 %</a:t>
            </a:r>
            <a:endParaRPr lang="en-US" sz="4400" dirty="0"/>
          </a:p>
        </p:txBody>
      </p:sp>
      <p:sp>
        <p:nvSpPr>
          <p:cNvPr id="6" name="st7-l"/>
          <p:cNvSpPr txBox="1"/>
          <p:nvPr/>
        </p:nvSpPr>
        <p:spPr>
          <a:xfrm>
            <a:off x="548640" y="3657600"/>
            <a:ext cx="25603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outliers en pros tras reasignar por similitud de embeddings</a:t>
            </a:r>
            <a:endParaRPr lang="en-US" sz="1300" dirty="0"/>
          </a:p>
        </p:txBody>
      </p:sp>
      <p:sp>
        <p:nvSpPr>
          <p:cNvPr id="7" name="st8-n"/>
          <p:cNvSpPr txBox="1"/>
          <p:nvPr/>
        </p:nvSpPr>
        <p:spPr>
          <a:xfrm>
            <a:off x="548640" y="4434840"/>
            <a:ext cx="256032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400" dirty="0"/>
          </a:p>
        </p:txBody>
      </p:sp>
      <p:sp>
        <p:nvSpPr>
          <p:cNvPr id="8" name="st8-l"/>
          <p:cNvSpPr txBox="1"/>
          <p:nvPr/>
        </p:nvSpPr>
        <p:spPr>
          <a:xfrm>
            <a:off x="548640" y="5212080"/>
            <a:ext cx="25603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topics corregidos a mano; nueva categoría "Condiciones físicas"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474720" y="1280160"/>
          <a:ext cx="81381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Conciliación es la gran debilidad relativa; carrera, la fortaleza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neg"/>
          <p:cNvSpPr/>
          <p:nvPr/>
        </p:nvSpPr>
        <p:spPr>
          <a:xfrm>
            <a:off x="7863840" y="1371600"/>
            <a:ext cx="3749040" cy="2194560"/>
          </a:xfrm>
          <a:prstGeom prst="roundRect">
            <a:avLst>
              <a:gd name="adj" fmla="val 333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01000" y="1463040"/>
            <a:ext cx="3520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Conciliación y horarios  −7,8 pp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1965960"/>
            <a:ext cx="352044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DHL la destaca menos como pro (10 % vs 14 %) y se queja más de ella (17 % vs 13 %).</a:t>
            </a:r>
            <a:endParaRPr lang="en-US" sz="1400" dirty="0"/>
          </a:p>
        </p:txBody>
      </p:sp>
      <p:sp>
        <p:nvSpPr>
          <p:cNvPr id="7" name="cardpos"/>
          <p:cNvSpPr/>
          <p:nvPr/>
        </p:nvSpPr>
        <p:spPr>
          <a:xfrm>
            <a:off x="7863840" y="3840480"/>
            <a:ext cx="37490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3931920"/>
            <a:ext cx="3520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Carrera y desarrollo  +5,1 pp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4434840"/>
            <a:ext cx="352044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9,3 % de los pros de DHL la mencionan vs 5,6 % en los peers. Refuta la hipótesis del EDA.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Los que se van de DHL citan más los horarios que en la competencia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9-n"/>
          <p:cNvSpPr txBox="1"/>
          <p:nvPr/>
        </p:nvSpPr>
        <p:spPr>
          <a:xfrm>
            <a:off x="7680960" y="1325880"/>
            <a:ext cx="393192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+4,5 pp</a:t>
            </a:r>
            <a:endParaRPr lang="en-US" sz="4400" dirty="0"/>
          </a:p>
        </p:txBody>
      </p:sp>
      <p:sp>
        <p:nvSpPr>
          <p:cNvPr id="5" name="st9-l"/>
          <p:cNvSpPr txBox="1"/>
          <p:nvPr/>
        </p:nvSpPr>
        <p:spPr>
          <a:xfrm>
            <a:off x="7680960" y="2103120"/>
            <a:ext cx="3931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más quejas de conciliación entre los antiguos de DHL que en los peers</a:t>
            </a:r>
            <a:endParaRPr lang="en-US" sz="1300" dirty="0"/>
          </a:p>
        </p:txBody>
      </p:sp>
      <p:sp>
        <p:nvSpPr>
          <p:cNvPr id="6" name="q0"/>
          <p:cNvSpPr/>
          <p:nvPr/>
        </p:nvSpPr>
        <p:spPr>
          <a:xfrm>
            <a:off x="7680960" y="301752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3017520"/>
            <a:ext cx="36576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"Lots of overtime with very little notice"</a:t>
            </a:r>
            <a:endParaRPr lang="en-US" sz="1400" dirty="0"/>
          </a:p>
        </p:txBody>
      </p:sp>
      <p:sp>
        <p:nvSpPr>
          <p:cNvPr id="8" name="q1"/>
          <p:cNvSpPr/>
          <p:nvPr/>
        </p:nvSpPr>
        <p:spPr>
          <a:xfrm>
            <a:off x="7680960" y="39776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18120" y="3977640"/>
            <a:ext cx="36576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"Could not get anyone for holidays"</a:t>
            </a:r>
            <a:endParaRPr lang="en-US" sz="1400" dirty="0"/>
          </a:p>
        </p:txBody>
      </p:sp>
      <p:sp>
        <p:nvSpPr>
          <p:cNvPr id="10" name="q2"/>
          <p:cNvSpPr/>
          <p:nvPr/>
        </p:nvSpPr>
        <p:spPr>
          <a:xfrm>
            <a:off x="7680960" y="49377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4937760"/>
            <a:ext cx="36576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"Shift timings can be difficult"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El problema no es cuánto se trabaja, sino cuándo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10-n"/>
          <p:cNvSpPr txBox="1"/>
          <p:nvPr/>
        </p:nvSpPr>
        <p:spPr>
          <a:xfrm>
            <a:off x="7863840" y="1371600"/>
            <a:ext cx="37490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+6,4 pp</a:t>
            </a:r>
            <a:endParaRPr lang="en-US" sz="4400" dirty="0"/>
          </a:p>
        </p:txBody>
      </p:sp>
      <p:sp>
        <p:nvSpPr>
          <p:cNvPr id="5" name="st10-l"/>
          <p:cNvSpPr txBox="1"/>
          <p:nvPr/>
        </p:nvSpPr>
        <p:spPr>
          <a:xfrm>
            <a:off x="7863840" y="2148840"/>
            <a:ext cx="3749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suben las quejas de conciliación en DHL en 2020-2021 (peers +3,3 pp)</a:t>
            </a:r>
            <a:endParaRPr lang="en-US" sz="1300" dirty="0"/>
          </a:p>
        </p:txBody>
      </p:sp>
      <p:sp>
        <p:nvSpPr>
          <p:cNvPr id="6" name="st11-n"/>
          <p:cNvSpPr txBox="1"/>
          <p:nvPr/>
        </p:nvSpPr>
        <p:spPr>
          <a:xfrm>
            <a:off x="7863840" y="3108960"/>
            <a:ext cx="37490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−3,9 pp</a:t>
            </a:r>
            <a:endParaRPr lang="en-US" sz="4400" dirty="0"/>
          </a:p>
        </p:txBody>
      </p:sp>
      <p:sp>
        <p:nvSpPr>
          <p:cNvPr id="7" name="st11-l"/>
          <p:cNvSpPr txBox="1"/>
          <p:nvPr/>
        </p:nvSpPr>
        <p:spPr>
          <a:xfrm>
            <a:off x="7863840" y="3886200"/>
            <a:ext cx="3749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bajan las de carga de trabajo en DHL, mientras suben en los peers</a:t>
            </a:r>
            <a:endParaRPr lang="en-US" sz="1300" dirty="0"/>
          </a:p>
        </p:txBody>
      </p:sp>
      <p:sp>
        <p:nvSpPr>
          <p:cNvPr id="8" name="ins10"/>
          <p:cNvSpPr/>
          <p:nvPr/>
        </p:nvSpPr>
        <p:spPr>
          <a:xfrm>
            <a:off x="7863840" y="4846320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4892040"/>
            <a:ext cx="352044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presión del COVID y el e-commerce se tradujo en turnos, horas extra y vacaciones poco previsibles.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Matriz de priorización: dos frentes de prioridad alta</a:t>
            </a:r>
            <a:endParaRPr lang="en-US" sz="2600" dirty="0"/>
          </a:p>
        </p:txBody>
      </p:sp>
      <p:sp>
        <p:nvSpPr>
          <p:cNvPr id="3" name="mframe"/>
          <p:cNvSpPr/>
          <p:nvPr/>
        </p:nvSpPr>
        <p:spPr>
          <a:xfrm>
            <a:off x="822960" y="1371600"/>
            <a:ext cx="69494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quadhigh"/>
          <p:cNvSpPr/>
          <p:nvPr/>
        </p:nvSpPr>
        <p:spPr>
          <a:xfrm>
            <a:off x="4297680" y="1371600"/>
            <a:ext cx="3474720" cy="2590800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962400"/>
            <a:ext cx="694944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1371600"/>
            <a:ext cx="0" cy="466344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3891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PRIORIDAD ALTA</a:t>
            </a:r>
            <a:endParaRPr lang="en-US" sz="1200" dirty="0"/>
          </a:p>
        </p:txBody>
      </p:sp>
      <p:sp>
        <p:nvSpPr>
          <p:cNvPr id="8" name="pt0"/>
          <p:cNvSpPr/>
          <p:nvPr/>
        </p:nvSpPr>
        <p:spPr>
          <a:xfrm>
            <a:off x="6671462" y="1813560"/>
            <a:ext cx="256032" cy="256032"/>
          </a:xfrm>
          <a:prstGeom prst="ellipse">
            <a:avLst/>
          </a:prstGeom>
          <a:solidFill>
            <a:srgbClr val="D40511"/>
          </a:solidFill>
          <a:ln w="12700">
            <a:solidFill>
              <a:srgbClr val="D405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33518" y="1758696"/>
            <a:ext cx="18288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Conciliación</a:t>
            </a:r>
            <a:endParaRPr lang="en-US" sz="1200" dirty="0"/>
          </a:p>
        </p:txBody>
      </p:sp>
      <p:sp>
        <p:nvSpPr>
          <p:cNvPr id="10" name="pt1"/>
          <p:cNvSpPr/>
          <p:nvPr/>
        </p:nvSpPr>
        <p:spPr>
          <a:xfrm>
            <a:off x="7018934" y="2694432"/>
            <a:ext cx="256032" cy="256032"/>
          </a:xfrm>
          <a:prstGeom prst="ellipse">
            <a:avLst/>
          </a:prstGeom>
          <a:solidFill>
            <a:srgbClr val="D40511"/>
          </a:solidFill>
          <a:ln w="12700">
            <a:solidFill>
              <a:srgbClr val="D405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80990" y="2639568"/>
            <a:ext cx="18288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Management</a:t>
            </a:r>
            <a:endParaRPr lang="en-US" sz="1200" dirty="0"/>
          </a:p>
        </p:txBody>
      </p:sp>
      <p:sp>
        <p:nvSpPr>
          <p:cNvPr id="12" name="pt2"/>
          <p:cNvSpPr/>
          <p:nvPr/>
        </p:nvSpPr>
        <p:spPr>
          <a:xfrm>
            <a:off x="3578962" y="3678936"/>
            <a:ext cx="256032" cy="256032"/>
          </a:xfrm>
          <a:prstGeom prst="ellipse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71570" y="3441192"/>
            <a:ext cx="18288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Carga de trabajo</a:t>
            </a:r>
            <a:endParaRPr lang="en-US" sz="1200" dirty="0"/>
          </a:p>
        </p:txBody>
      </p:sp>
      <p:sp>
        <p:nvSpPr>
          <p:cNvPr id="14" name="pt3"/>
          <p:cNvSpPr/>
          <p:nvPr/>
        </p:nvSpPr>
        <p:spPr>
          <a:xfrm>
            <a:off x="5629046" y="3886200"/>
            <a:ext cx="256032" cy="256032"/>
          </a:xfrm>
          <a:prstGeom prst="ellipse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21654" y="3831336"/>
            <a:ext cx="18288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Compensación</a:t>
            </a:r>
            <a:endParaRPr lang="en-US" sz="1200" dirty="0"/>
          </a:p>
        </p:txBody>
      </p:sp>
      <p:sp>
        <p:nvSpPr>
          <p:cNvPr id="16" name="pt4"/>
          <p:cNvSpPr/>
          <p:nvPr/>
        </p:nvSpPr>
        <p:spPr>
          <a:xfrm>
            <a:off x="2119579" y="4041648"/>
            <a:ext cx="256032" cy="256032"/>
          </a:xfrm>
          <a:prstGeom prst="ellipse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12187" y="3986784"/>
            <a:ext cx="18288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Condiciones físicas</a:t>
            </a:r>
            <a:endParaRPr lang="en-US" sz="1200" dirty="0"/>
          </a:p>
        </p:txBody>
      </p:sp>
      <p:sp>
        <p:nvSpPr>
          <p:cNvPr id="18" name="pt5"/>
          <p:cNvSpPr/>
          <p:nvPr/>
        </p:nvSpPr>
        <p:spPr>
          <a:xfrm>
            <a:off x="868680" y="4197096"/>
            <a:ext cx="256032" cy="256032"/>
          </a:xfrm>
          <a:prstGeom prst="ellipse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61288" y="3867912"/>
            <a:ext cx="18288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Estabilidad</a:t>
            </a:r>
            <a:endParaRPr lang="en-US" sz="1200" dirty="0"/>
          </a:p>
        </p:txBody>
      </p:sp>
      <p:sp>
        <p:nvSpPr>
          <p:cNvPr id="20" name="pt6"/>
          <p:cNvSpPr/>
          <p:nvPr/>
        </p:nvSpPr>
        <p:spPr>
          <a:xfrm>
            <a:off x="1216152" y="4248912"/>
            <a:ext cx="256032" cy="256032"/>
          </a:xfrm>
          <a:prstGeom prst="ellipse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422648"/>
            <a:ext cx="18288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Cultura</a:t>
            </a:r>
            <a:endParaRPr lang="en-US" sz="1200" dirty="0"/>
          </a:p>
        </p:txBody>
      </p:sp>
      <p:sp>
        <p:nvSpPr>
          <p:cNvPr id="22" name="pt7"/>
          <p:cNvSpPr/>
          <p:nvPr/>
        </p:nvSpPr>
        <p:spPr>
          <a:xfrm>
            <a:off x="2953512" y="4559808"/>
            <a:ext cx="256032" cy="256032"/>
          </a:xfrm>
          <a:prstGeom prst="ellipse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46120" y="4504944"/>
            <a:ext cx="18288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Carrera</a:t>
            </a:r>
            <a:endParaRPr lang="en-US" sz="1200" dirty="0"/>
          </a:p>
        </p:txBody>
      </p:sp>
      <p:sp>
        <p:nvSpPr>
          <p:cNvPr id="24" name="pt8"/>
          <p:cNvSpPr/>
          <p:nvPr/>
        </p:nvSpPr>
        <p:spPr>
          <a:xfrm>
            <a:off x="3578962" y="5285232"/>
            <a:ext cx="256032" cy="256032"/>
          </a:xfrm>
          <a:prstGeom prst="ellipse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71570" y="5367528"/>
            <a:ext cx="18288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Burocracia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080760"/>
            <a:ext cx="69494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Peso en los cons de DHL (%) →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↑ Peor que los peers (pp)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1371600"/>
            <a:ext cx="33832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0511"/>
                </a:solidFill>
              </a:rPr>
              <a:t>1. Conciliación y horarios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17 % de las quejas, +3,9 pp vs peers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40511"/>
                </a:solidFill>
              </a:rPr>
              <a:t>2. Management y liderazgo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18 % de las quejas, +2,2 pp, el peor rating (2,75)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Mantener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Compensación y carga de trabajo pesan mucho pero están como el mercado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Conclusiones: DHL atrae por carrera, pero desgasta por horarios y mandos</a:t>
            </a:r>
            <a:endParaRPr lang="en-US" sz="2600" dirty="0"/>
          </a:p>
        </p:txBody>
      </p:sp>
      <p:sp>
        <p:nvSpPr>
          <p:cNvPr id="3" name="colpos"/>
          <p:cNvSpPr/>
          <p:nvPr/>
        </p:nvSpPr>
        <p:spPr>
          <a:xfrm>
            <a:off x="54864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Puntos fuertes → employer branding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Carrera y desarrollo: +5,1 pp frente a los peers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Menos burocracia que la competencia (+2,7 pp)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Compensación y estabilidad en línea o por encima del mercado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 empleados con más de 10 años valoran DHL por encima de los peers (3,87)</a:t>
            </a:r>
            <a:endParaRPr lang="en-US" sz="1500" dirty="0"/>
          </a:p>
        </p:txBody>
      </p:sp>
      <p:sp>
        <p:nvSpPr>
          <p:cNvPr id="6" name="colneg"/>
          <p:cNvSpPr/>
          <p:nvPr/>
        </p:nvSpPr>
        <p:spPr>
          <a:xfrm>
            <a:off x="621792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Áreas de mejora → plan de acción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01168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Conciliación y horarios: −7,8 pp neto, primer motivo de salida diferencial y en aumento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Management: queja más frecuente (18 %), +2,2 pp y peor rating (2,75)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Condiciones físicas (vigilar): peor valoradas que en los peers y más citadas por quienes se van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recomendaciones para RRHH</a:t>
            </a:r>
            <a:endParaRPr lang="en-US" sz="3200" dirty="0"/>
          </a:p>
        </p:txBody>
      </p:sp>
      <p:sp>
        <p:nvSpPr>
          <p:cNvPr id="3" name="rec0"/>
          <p:cNvSpPr/>
          <p:nvPr/>
        </p:nvSpPr>
        <p:spPr>
          <a:xfrm>
            <a:off x="548640" y="141732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RETENCIÓN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108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Turnos predecibles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310896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Turnos publicados con 2 semanas de antelación, horas extra preavisadas y limitadas, cupos de vacaciones también en peak season.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KPI: quejas de conciliación de antiguos 17,7 % → ~13 %</a:t>
            </a:r>
            <a:endParaRPr lang="en-US" sz="1300" dirty="0"/>
          </a:p>
        </p:txBody>
      </p:sp>
      <p:sp>
        <p:nvSpPr>
          <p:cNvPr id="8" name="rec1"/>
          <p:cNvSpPr/>
          <p:nvPr/>
        </p:nvSpPr>
        <p:spPr>
          <a:xfrm>
            <a:off x="4343400" y="141732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GESTIÓN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11680"/>
            <a:ext cx="3108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mandos intermedios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80360"/>
            <a:ext cx="310896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Formación de supervisores en liderazgo operativo (trato, reconocimiento, favoritismo), evaluación 360° y encuesta pulse trimestral.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KPI: rating de reseñas que citan management &gt; 2,9</a:t>
            </a:r>
            <a:endParaRPr lang="en-US" sz="1300" dirty="0"/>
          </a:p>
        </p:txBody>
      </p:sp>
      <p:sp>
        <p:nvSpPr>
          <p:cNvPr id="13" name="rec2"/>
          <p:cNvSpPr/>
          <p:nvPr/>
        </p:nvSpPr>
        <p:spPr>
          <a:xfrm>
            <a:off x="8138160" y="141732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ATRACCIÓN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011680"/>
            <a:ext cx="3108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branding de carrera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880360"/>
            <a:ext cx="310896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Casos reales de promoción interna y formación; itinerario visible de carrera en los años 1-5, donde DHL puntúa por debajo.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KPI: % de pros que mencionan carrera ≥ 9 %</a:t>
            </a:r>
            <a:endParaRPr lang="en-US" sz="1300" dirty="0"/>
          </a:p>
        </p:txBody>
      </p:sp>
      <p:sp>
        <p:nvSpPr>
          <p:cNvPr id="19" name="Text 0"/>
          <p:cNvSpPr/>
          <p:nvPr>
            <p:ph idx="100" type="title" hasCustomPrompt="1"/>
          </p:nvPr>
        </p:nvSpPr>
        <p:spPr>
          <a:xfrm>
            <a:off x="64008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640080" y="3840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Limitaciones y próximos pasos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949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Limitaciones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Glassdoor sobrerrepresenta a empleados muy satisfechos o muy descontentos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Mezcla de países, áreas (almacén, oficina, transporte) y puestos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solo topic por reseña, aunque trate varios temas; categorías revisadas a mano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Ventana 2018-2021 y algunas categorías con pocas reseñas en DHL (n &lt; 50)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325880"/>
            <a:ext cx="52120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Próximos pasos</a:t>
            </a:r>
            <a:endParaRPr lang="en-US" sz="1800" dirty="0"/>
          </a:p>
        </p:txBody>
      </p:sp>
      <p:sp>
        <p:nvSpPr>
          <p:cNvPr id="6" name="nx0"/>
          <p:cNvSpPr/>
          <p:nvPr/>
        </p:nvSpPr>
        <p:spPr>
          <a:xfrm>
            <a:off x="6400800" y="18288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nxd0"/>
          <p:cNvSpPr/>
          <p:nvPr/>
        </p:nvSpPr>
        <p:spPr>
          <a:xfrm>
            <a:off x="6583680" y="2148840"/>
            <a:ext cx="548640" cy="548640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938528"/>
            <a:ext cx="41148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Multi-etiqueta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2331720"/>
            <a:ext cx="4114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Clasificación zero-shot para captar varios temas por reseña</a:t>
            </a:r>
            <a:endParaRPr lang="en-US" sz="1400" dirty="0"/>
          </a:p>
        </p:txBody>
      </p:sp>
      <p:sp>
        <p:nvSpPr>
          <p:cNvPr id="11" name="nx1"/>
          <p:cNvSpPr/>
          <p:nvPr/>
        </p:nvSpPr>
        <p:spPr>
          <a:xfrm>
            <a:off x="6400800" y="32004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nxd1"/>
          <p:cNvSpPr/>
          <p:nvPr/>
        </p:nvSpPr>
        <p:spPr>
          <a:xfrm>
            <a:off x="6583680" y="3520440"/>
            <a:ext cx="548640" cy="548640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310128"/>
            <a:ext cx="41148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Segmentación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3703320"/>
            <a:ext cx="4114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Análisis por país, puesto y centro de trabajo</a:t>
            </a:r>
            <a:endParaRPr lang="en-US" sz="1400" dirty="0"/>
          </a:p>
        </p:txBody>
      </p:sp>
      <p:sp>
        <p:nvSpPr>
          <p:cNvPr id="16" name="nx2"/>
          <p:cNvSpPr/>
          <p:nvPr/>
        </p:nvSpPr>
        <p:spPr>
          <a:xfrm>
            <a:off x="6400800" y="45720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nxd2"/>
          <p:cNvSpPr/>
          <p:nvPr/>
        </p:nvSpPr>
        <p:spPr>
          <a:xfrm>
            <a:off x="6583680" y="4892040"/>
            <a:ext cx="548640" cy="548640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681728"/>
            <a:ext cx="41148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Validación interna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74920"/>
            <a:ext cx="4114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Encuesta a empleados y cruce con datos reales de rotación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HL Glassdoor">
  <a:themeElements>
    <a:clrScheme name="DHL Glassdoor">
      <a:dk1>
        <a:srgbClr val="1F1F1F"/>
      </a:dk1>
      <a:lt1>
        <a:srgbClr val="FFFFFF"/>
      </a:lt1>
      <a:dk2>
        <a:srgbClr val="2B2B2B"/>
      </a:dk2>
      <a:lt2>
        <a:srgbClr val="F3F4F6"/>
      </a:lt2>
      <a:accent1>
        <a:srgbClr val="D40511"/>
      </a:accent1>
      <a:accent2>
        <a:srgbClr val="FFCC00"/>
      </a:accent2>
      <a:accent3>
        <a:srgbClr val="2A9D8F"/>
      </a:accent3>
      <a:accent4>
        <a:srgbClr val="9AA5B1"/>
      </a:accent4>
      <a:accent5>
        <a:srgbClr val="6B7280"/>
      </a:accent5>
      <a:accent6>
        <a:srgbClr val="1F1F1F"/>
      </a:accent6>
      <a:hlink>
        <a:srgbClr val="D40511"/>
      </a:hlink>
      <a:folHlink>
        <a:srgbClr val="6B7280"/>
      </a:folHlink>
    </a:clrScheme>
    <a:fontScheme name="DHL Glassdoo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de marca empleadora — DHL Supply Chain</dc:title>
  <dc:subject>PptxGenJS Presentation</dc:subject>
  <dc:creator>José A. Espinosa</dc:creator>
  <cp:lastModifiedBy>José A. Espinosa</cp:lastModifiedBy>
  <cp:revision>1</cp:revision>
  <dcterms:created xsi:type="dcterms:W3CDTF">2026-10-17T19:27:58Z</dcterms:created>
  <dcterms:modified xsi:type="dcterms:W3CDTF">2026-10-17T19:27:58Z</dcterms:modified>
</cp:coreProperties>
</file>